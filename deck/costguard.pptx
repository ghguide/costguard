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793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yo+5IjhMi43s35AdfouVMRQij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C4FA29-6B06-423A-9BB2-77A8D66D12BC}">
  <a:tblStyle styleId="{98C4FA29-6B06-423A-9BB2-77A8D66D12B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rgbClr val="0BA2B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9770" y="5461000"/>
            <a:ext cx="15240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9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640800" y="5886454"/>
            <a:ext cx="8280000" cy="451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"/>
          <p:cNvSpPr txBox="1"/>
          <p:nvPr>
            <p:ph type="title"/>
          </p:nvPr>
        </p:nvSpPr>
        <p:spPr>
          <a:xfrm>
            <a:off x="640800" y="4843803"/>
            <a:ext cx="8280000" cy="1037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16" name="Google Shape;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6196" y="435122"/>
            <a:ext cx="1116970" cy="36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">
  <p:cSld name="Slide with logo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0"/>
          <p:cNvSpPr/>
          <p:nvPr/>
        </p:nvSpPr>
        <p:spPr>
          <a:xfrm>
            <a:off x="10297948" y="1240221"/>
            <a:ext cx="1481958" cy="6726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31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B4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s">
  <p:cSld name="Title and 2 Conten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9650" y="0"/>
            <a:ext cx="6089650" cy="208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92400"/>
            <a:ext cx="4178300" cy="41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1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1"/>
          <p:cNvSpPr txBox="1"/>
          <p:nvPr>
            <p:ph idx="2" type="body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1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1"/>
          <p:cNvSpPr txBox="1"/>
          <p:nvPr>
            <p:ph idx="4" type="body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1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7661" y="404660"/>
            <a:ext cx="1063903" cy="34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 showMasterSp="0">
  <p:cSld name="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6" name="Google Shape;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348" y="393566"/>
            <a:ext cx="6557643" cy="355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accen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97670" y="5461000"/>
            <a:ext cx="18161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29" y="190499"/>
            <a:ext cx="18161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3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2" name="Google Shape;42;p13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640800" y="5850000"/>
            <a:ext cx="3818481" cy="63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322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2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3"/>
          <p:cNvSpPr txBox="1"/>
          <p:nvPr>
            <p:ph idx="2" type="body"/>
          </p:nvPr>
        </p:nvSpPr>
        <p:spPr>
          <a:xfrm>
            <a:off x="640800" y="4574120"/>
            <a:ext cx="8822225" cy="914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3"/>
          <p:cNvSpPr txBox="1"/>
          <p:nvPr>
            <p:ph idx="3" type="subTitle"/>
          </p:nvPr>
        </p:nvSpPr>
        <p:spPr>
          <a:xfrm>
            <a:off x="644227" y="2845823"/>
            <a:ext cx="8820000" cy="151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6" name="Google Shape;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1449" y="507429"/>
            <a:ext cx="1496116" cy="748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Dark" showMasterSp="0">
  <p:cSld name="Title and Content Dark">
    <p:bg>
      <p:bgPr>
        <a:solidFill>
          <a:schemeClr val="accen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5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Teal" showMasterSp="0">
  <p:cSld name="1_Title and Content Teal">
    <p:bg>
      <p:bgPr>
        <a:solidFill>
          <a:schemeClr val="accent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">
  <p:cSld name="Headline 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 Dark" showMasterSp="0">
  <p:cSld name="Headline only Dark">
    <p:bg>
      <p:bgPr>
        <a:solidFill>
          <a:schemeClr val="accen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line only Teal" showMasterSp="0">
  <p:cSld name="1_Headline only Teal">
    <p:bg>
      <p:bgPr>
        <a:solidFill>
          <a:schemeClr val="accent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>
  <p:cSld name="Comparison">
    <p:bg>
      <p:bgPr>
        <a:solidFill>
          <a:schemeClr val="accent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5678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0"/>
          <p:cNvSpPr txBox="1"/>
          <p:nvPr>
            <p:ph type="title"/>
          </p:nvPr>
        </p:nvSpPr>
        <p:spPr>
          <a:xfrm>
            <a:off x="359999" y="1674394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6480000" y="1674393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2" type="body"/>
          </p:nvPr>
        </p:nvSpPr>
        <p:spPr>
          <a:xfrm>
            <a:off x="648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3" type="body"/>
          </p:nvPr>
        </p:nvSpPr>
        <p:spPr>
          <a:xfrm>
            <a:off x="36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20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 showMasterSp="0">
  <p:cSld name="Quote Slide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0" name="Google Shape;90;p21"/>
          <p:cNvSpPr txBox="1"/>
          <p:nvPr/>
        </p:nvSpPr>
        <p:spPr>
          <a:xfrm>
            <a:off x="1343734" y="2179914"/>
            <a:ext cx="239177" cy="327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1" name="Google Shape;91;p21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/>
          <p:nvPr/>
        </p:nvSpPr>
        <p:spPr>
          <a:xfrm flipH="1" rot="10800000">
            <a:off x="9366432" y="5569929"/>
            <a:ext cx="505472" cy="505473"/>
          </a:xfrm>
          <a:prstGeom prst="rect">
            <a:avLst/>
          </a:prstGeom>
          <a:solidFill>
            <a:srgbClr val="0BA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 txBox="1"/>
          <p:nvPr>
            <p:ph type="title"/>
          </p:nvPr>
        </p:nvSpPr>
        <p:spPr>
          <a:xfrm>
            <a:off x="1591200" y="2187168"/>
            <a:ext cx="8405525" cy="197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1591200" y="4421963"/>
            <a:ext cx="7025229" cy="8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5" name="Google Shape;9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74886" y="5067046"/>
            <a:ext cx="20066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hoto">
  <p:cSld name="Content with photo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/>
          <p:nvPr>
            <p:ph idx="2" type="pic"/>
          </p:nvPr>
        </p:nvSpPr>
        <p:spPr>
          <a:xfrm>
            <a:off x="7937500" y="1447601"/>
            <a:ext cx="4241800" cy="5410399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2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360000" y="1440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3" type="body"/>
          </p:nvPr>
        </p:nvSpPr>
        <p:spPr>
          <a:xfrm>
            <a:off x="360000" y="1799999"/>
            <a:ext cx="72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3" name="Google Shape;10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7500" y="3935445"/>
            <a:ext cx="9652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2"/>
          <p:cNvSpPr txBox="1"/>
          <p:nvPr>
            <p:ph idx="4" type="body"/>
          </p:nvPr>
        </p:nvSpPr>
        <p:spPr>
          <a:xfrm>
            <a:off x="2793987" y="4888595"/>
            <a:ext cx="6980036" cy="1969405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anchorCtr="0" anchor="t" bIns="317500" lIns="317500" spcFirstLastPara="1" rIns="317500" wrap="square" tIns="317500">
            <a:noAutofit/>
          </a:bodyPr>
          <a:lstStyle>
            <a:lvl1pPr indent="-228600" lvl="0" marL="45720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  <a:defRPr b="1" i="0" sz="1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2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4" showMasterSp="0">
  <p:cSld name="TOC Slide 4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36000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3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3"/>
          <p:cNvSpPr txBox="1"/>
          <p:nvPr>
            <p:ph idx="2" type="body"/>
          </p:nvPr>
        </p:nvSpPr>
        <p:spPr>
          <a:xfrm>
            <a:off x="322999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09998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896997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4" name="Google Shape;1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8" showMasterSp="0">
  <p:cSld name="TOC Slide 8">
    <p:bg>
      <p:bgPr>
        <a:solidFill>
          <a:schemeClr val="accent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36000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24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4"/>
          <p:cNvSpPr txBox="1"/>
          <p:nvPr>
            <p:ph idx="2" type="body"/>
          </p:nvPr>
        </p:nvSpPr>
        <p:spPr>
          <a:xfrm>
            <a:off x="322999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4"/>
          <p:cNvSpPr txBox="1"/>
          <p:nvPr>
            <p:ph idx="3" type="body"/>
          </p:nvPr>
        </p:nvSpPr>
        <p:spPr>
          <a:xfrm>
            <a:off x="609998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4" type="body"/>
          </p:nvPr>
        </p:nvSpPr>
        <p:spPr>
          <a:xfrm>
            <a:off x="896997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5" type="body"/>
          </p:nvPr>
        </p:nvSpPr>
        <p:spPr>
          <a:xfrm>
            <a:off x="36000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6" type="body"/>
          </p:nvPr>
        </p:nvSpPr>
        <p:spPr>
          <a:xfrm>
            <a:off x="322999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4"/>
          <p:cNvSpPr txBox="1"/>
          <p:nvPr>
            <p:ph idx="7" type="body"/>
          </p:nvPr>
        </p:nvSpPr>
        <p:spPr>
          <a:xfrm>
            <a:off x="609998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4"/>
          <p:cNvSpPr txBox="1"/>
          <p:nvPr>
            <p:ph idx="8" type="body"/>
          </p:nvPr>
        </p:nvSpPr>
        <p:spPr>
          <a:xfrm>
            <a:off x="896997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 Dark" showMasterSp="0">
  <p:cSld name="Agenda slide Table Dark">
    <p:bg>
      <p:bgPr>
        <a:solidFill>
          <a:schemeClr val="accen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" showMasterSp="0">
  <p:cSld name="Agenda slide Table">
    <p:bg>
      <p:bgPr>
        <a:solidFill>
          <a:schemeClr val="accent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60000" y="2610760"/>
            <a:ext cx="3478685" cy="2108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2" type="body"/>
          </p:nvPr>
        </p:nvSpPr>
        <p:spPr>
          <a:xfrm>
            <a:off x="4308328" y="2610760"/>
            <a:ext cx="3478685" cy="2108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3" type="body"/>
          </p:nvPr>
        </p:nvSpPr>
        <p:spPr>
          <a:xfrm>
            <a:off x="8256655" y="2610760"/>
            <a:ext cx="3478685" cy="2108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 Dark" showMasterSp="0">
  <p:cSld name="Slide with logo Dark">
    <p:bg>
      <p:bgPr>
        <a:solidFill>
          <a:schemeClr val="accen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with logo Teal" showMasterSp="0">
  <p:cSld name="1_Slide with logo Teal">
    <p:bg>
      <p:bgPr>
        <a:solidFill>
          <a:schemeClr val="accent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 showMasterSp="0">
  <p:cSld name="Thank You Slide">
    <p:bg>
      <p:bgPr>
        <a:solidFill>
          <a:schemeClr val="accen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54" name="Google Shape;15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0348" y="393566"/>
            <a:ext cx="6557644" cy="355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617538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3473690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30"/>
          <p:cNvSpPr txBox="1"/>
          <p:nvPr>
            <p:ph idx="3" type="body"/>
          </p:nvPr>
        </p:nvSpPr>
        <p:spPr>
          <a:xfrm>
            <a:off x="6329842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30"/>
          <p:cNvSpPr txBox="1"/>
          <p:nvPr>
            <p:ph idx="4" type="body"/>
          </p:nvPr>
        </p:nvSpPr>
        <p:spPr>
          <a:xfrm>
            <a:off x="9185994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5" type="body"/>
          </p:nvPr>
        </p:nvSpPr>
        <p:spPr>
          <a:xfrm>
            <a:off x="617538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6" type="body"/>
          </p:nvPr>
        </p:nvSpPr>
        <p:spPr>
          <a:xfrm>
            <a:off x="3473690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30"/>
          <p:cNvSpPr txBox="1"/>
          <p:nvPr>
            <p:ph idx="7" type="body"/>
          </p:nvPr>
        </p:nvSpPr>
        <p:spPr>
          <a:xfrm>
            <a:off x="6329842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30"/>
          <p:cNvSpPr txBox="1"/>
          <p:nvPr>
            <p:ph idx="8" type="body"/>
          </p:nvPr>
        </p:nvSpPr>
        <p:spPr>
          <a:xfrm>
            <a:off x="9185994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9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" name="Google Shape;9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>
            <p:ph idx="1" type="body"/>
          </p:nvPr>
        </p:nvSpPr>
        <p:spPr>
          <a:xfrm>
            <a:off x="640800" y="4217803"/>
            <a:ext cx="82800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UiPath AgentHack. Build the AI agents of tomorrow.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9" name="Google Shape;169;p1"/>
          <p:cNvSpPr txBox="1"/>
          <p:nvPr>
            <p:ph type="title"/>
          </p:nvPr>
        </p:nvSpPr>
        <p:spPr>
          <a:xfrm>
            <a:off x="554450" y="2078406"/>
            <a:ext cx="8568000" cy="17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CostGuard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>
                <a:solidFill>
                  <a:srgbClr val="FFFFFF"/>
                </a:solidFill>
              </a:rPr>
              <a:t>Cost-regression testing for AI agents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"/>
          <p:cNvSpPr/>
          <p:nvPr/>
        </p:nvSpPr>
        <p:spPr>
          <a:xfrm>
            <a:off x="4263984" y="4770054"/>
            <a:ext cx="2710800" cy="11409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5" name="Google Shape;175;p2"/>
          <p:cNvSpPr txBox="1"/>
          <p:nvPr/>
        </p:nvSpPr>
        <p:spPr>
          <a:xfrm>
            <a:off x="221725" y="169975"/>
            <a:ext cx="90174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000">
                <a:solidFill>
                  <a:schemeClr val="dk1"/>
                </a:solidFill>
              </a:rPr>
            </a:br>
            <a:r>
              <a:rPr lang="en-US" sz="3000">
                <a:solidFill>
                  <a:schemeClr val="dk1"/>
                </a:solidFill>
              </a:rPr>
              <a:t>CostGuard</a:t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176" name="Picture 17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783080"/>
            <a:ext cx="2743200" cy="272401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3200400" y="4800600"/>
            <a:ext cx="5788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555555"/>
                </a:solidFill>
              </a:rPr>
              <a:t>Built solo by Leonardo Calancea  ·  Track 3 (Test Cloud)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24"/>
              </a:buClr>
              <a:buSzPts val="3000"/>
              <a:buFont typeface="Arial"/>
              <a:buNone/>
            </a:pPr>
            <a:r>
              <a:rPr lang="en-US">
                <a:solidFill>
                  <a:srgbClr val="172024"/>
                </a:solidFill>
              </a:rPr>
              <a:t>Problem statement and proposed solution</a:t>
            </a:r>
            <a:endParaRPr>
              <a:solidFill>
                <a:srgbClr val="172024"/>
              </a:solidFill>
            </a:endParaRPr>
          </a:p>
        </p:txBody>
      </p:sp>
      <p:sp>
        <p:nvSpPr>
          <p:cNvPr id="182" name="Google Shape;182;p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3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Problem</a:t>
            </a:r>
            <a:endParaRPr/>
          </a:p>
        </p:txBody>
      </p:sp>
      <p:sp>
        <p:nvSpPr>
          <p:cNvPr id="184" name="Google Shape;184;p3"/>
          <p:cNvSpPr txBox="1"/>
          <p:nvPr>
            <p:ph idx="2" type="body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Teams ship AI agents fast. A small prompt or model change can quietly triple token spend while still passing every correctness test.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QA checks whether the agent is right, never what it costs to be right. The bills are board-level: FinOps X 2026 called it the Great Token Panic, and one 4-agent loop burned about $47K in 11 days.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There is a correctness gate before production. There is no cost gate.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000" i="1">
                <a:solidFill>
                  <a:srgbClr val="8A8A8A"/>
                </a:solidFill>
              </a:rPr>
              <a:t>Scores: Business Impact</a:t>
            </a:r>
            <a:endParaRPr/>
          </a:p>
        </p:txBody>
      </p:sp>
      <p:sp>
        <p:nvSpPr>
          <p:cNvPr id="185" name="Google Shape;185;p3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186" name="Google Shape;186;p3"/>
          <p:cNvSpPr txBox="1"/>
          <p:nvPr>
            <p:ph idx="4" type="body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CostGuard adds a first-class test type: cost-regression testing, run and governed on UiPath.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Before a change ships, it runs the agent many times on a Test Cloud scenario set, measures cost per correctly-processed invoice (not per token), compares to the last approved baseline, and blocks a regression. The call goes to a human in Action Center.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Cost is paired with a quality score, so a cheaper-but-worse agent cannot slip through. The line nobody else can draw: cost per business outcome.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000" i="1">
                <a:solidFill>
                  <a:srgbClr val="8A8A8A"/>
                </a:solidFill>
              </a:rPr>
              <a:t>Scores: Creativity · Platform Usage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"/>
          <p:cNvSpPr txBox="1"/>
          <p:nvPr/>
        </p:nvSpPr>
        <p:spPr>
          <a:xfrm>
            <a:off x="259203" y="360000"/>
            <a:ext cx="9000000" cy="49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 and technologies used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93" name="Google Shape;193;p4"/>
          <p:cNvGraphicFramePr/>
          <p:nvPr/>
        </p:nvGraphicFramePr>
        <p:xfrm>
          <a:off x="359999" y="15062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{98C4FA29-6B06-423A-9BB2-77A8D66D12BC}</a:tableStyleId>
              </a:tblPr>
              <a:tblGrid>
                <a:gridCol w="2503325"/>
                <a:gridCol w="2503325"/>
              </a:tblGrid>
              <a:tr h="99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End-user​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Platform, QA and FinOps engineers shipping AI agents to production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department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Engineering, QA, Platform Ops, FinOps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Industries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Any enterprise running production AI agents: finance, insurance, BPO, shared services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9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UiPath products used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Cloud (the gate), Coded Agents / Python SDK (engine + Cost Explainer), Orchestrator (serverless job), Action Center (HITL), Document Understanding (patient), AI Trust Layer LLM Gateway, API Workflows (pricing)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100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Other - integrations / APIs / technologies used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LangChain / CrewAI as external agent-under-test, OpenTelemetry, built with Claude Code via uip skills, bootstrap statistical cost bands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4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6422266" y="770263"/>
            <a:ext cx="5497831" cy="4897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Benefits, impact and outcomes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6318751" y="1506260"/>
            <a:ext cx="5500550" cy="4426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Blocks silent cost regressions before production. In the demo a “smarter” candidate scored +4.5% accuracy but cost 7× more per processed invoice, and CostGuard blocked it. On real UiPath-gateway models the same trap cost 13× for no accuracy gain.</a:t>
            </a:r>
            <a:endParaRPr/>
          </a:p>
          <a:p>
            <a:pPr indent="-285750" lvl="0" marL="285750" marR="0" rtl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prices agents in dollars per business outcome, works on any agent or framework, and a human always owns the final call.</a:t>
            </a:r>
            <a:endParaRPr/>
          </a:p>
          <a:p>
            <a:pPr indent="-285750" lvl="0" marL="285750" marR="0" rtl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1" lang="en-US" sz="10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Scores: Business Impact · Technical Execution</a:t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359999" y="810000"/>
            <a:ext cx="5497831" cy="4897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architecture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359999" y="1506260"/>
            <a:ext cx="11459302" cy="4426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change goes in. CostGuard runs the agent many times on UiPath, prices each correct outcome, compares to the baseline, and blocks a regression. A human owns any block.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0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Scores: Platform Usage · Technical Execution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Picture 205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2240280"/>
            <a:ext cx="7223760" cy="19782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359999" y="518044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Live proof: real, not a slide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359999" y="1506260"/>
            <a:ext cx="11459302" cy="4426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live serverless job on UiPath Automation Cloud returned verdict FAIL: cost 7.26× for +4.5% accuracy. On the AI Trust Layer gateway the same upgrade cost 13.12× for zero gain.</a:t>
            </a:r>
            <a:endParaRPr/>
          </a:p>
          <a:p>
            <a:pPr indent="0" lvl="0" marL="0" marR="0" rtl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verdict is registered as a first-class Test Cloud result. The gate itself scores 30 out of 30 on a labelled eval.</a:t>
            </a:r>
            <a:endParaRPr/>
          </a:p>
          <a:p>
            <a:pPr indent="0" lvl="0" marL="0" marR="0" rtl="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0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Scores: Completeness · Technical Execution</a:t>
            </a:r>
            <a:endParaRPr/>
          </a:p>
        </p:txBody>
      </p:sp>
      <p:pic>
        <p:nvPicPr>
          <p:cNvPr id="214" name="Picture 213" descr="cost-re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788920"/>
            <a:ext cx="6675120" cy="37547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/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Looked fine. Cost 7× more. Blocked before it shipped.</a:t>
            </a:r>
            <a:endParaRPr/>
          </a:p>
          <a:p>
            <a:pPr indent="0" lvl="0" marL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CostGuard  ·  github.com/GHGuide/costguard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imary Presentation Layouts">
  <a:themeElements>
    <a:clrScheme name="Primary Presentation Layouts">
      <a:dk1>
        <a:srgbClr val="000000"/>
      </a:dk1>
      <a:lt1>
        <a:srgbClr val="FFFFFF"/>
      </a:lt1>
      <a:dk2>
        <a:srgbClr val="9D9D9D"/>
      </a:dk2>
      <a:lt2>
        <a:srgbClr val="A32200"/>
      </a:lt2>
      <a:accent1>
        <a:srgbClr val="FCC0C5"/>
      </a:accent1>
      <a:accent2>
        <a:srgbClr val="5BCBDE"/>
      </a:accent2>
      <a:accent3>
        <a:srgbClr val="F6F6F6"/>
      </a:accent3>
      <a:accent4>
        <a:srgbClr val="434648"/>
      </a:accent4>
      <a:accent5>
        <a:srgbClr val="FFCBFF"/>
      </a:accent5>
      <a:accent6>
        <a:srgbClr val="1168C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2025-06-06T15:41:05Z</dcterms:created>
  <dc:creator>Andreea Tomescu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0x0101006586BB0CA657274B8C976C7E0436D499</vt:lpwstr>
  </property>
  <property fmtid="{D5CDD505-2E9C-101B-9397-08002B2CF9AE}" pid="3" name="MediaServiceImageTags">
    <vt:lpwstr/>
  </property>
</Properties>
</file>